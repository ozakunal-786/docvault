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37797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F40517-3435-8E6D-D4AC-8CE851ADD4EA}" name="Lenz, Eric" initials="LE" userId="S::eric.lenz@worldline.com::7bac107c-1a18-44cb-b8b5-449adef1ec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CC5"/>
    <a:srgbClr val="C9C3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EA99D-407E-4848-B559-F30E4B3F2A41}" v="5" dt="2025-09-02T14:28:42.8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CD004-08DA-4AA9-BCD1-02F730D9920C}" type="datetimeFigureOut">
              <a:rPr lang="de-DE" smtClean="0"/>
              <a:t>03.09.2025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4AD06-4AF7-4914-9672-E327B89113A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305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AD06-4AF7-4914-9672-E327B89113A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182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A8882-830F-0C7C-BAE1-01FF3B8D5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7A5A8-AE2B-3902-F48E-1711CCA51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F06B5-2E85-ED74-F711-BAD9A9B8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991B3-B2EE-2982-95ED-93C5FF52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6BB2-33AF-8220-DD12-1688E810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534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19BE-0A75-B0AF-81E5-0E6A7C6A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6C3C5-1EDE-990A-5C4D-5F9F55468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58640-82E1-CF20-63ED-99BD1E19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5B199-AC7F-95D1-2C2E-C9735D7C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38BA8-6751-95B6-B454-5A56A9F35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9453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BA40-855B-F432-BB5A-D43BB79DA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BE067-DC27-852E-46A7-603E5B837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2C36E-2188-DF4D-D1EC-897AD72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53ABD-D6B2-339E-01FF-4D6A5D5E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48F65-7E79-CBCE-A275-8644037F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276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E1B4-FD19-5889-FEBB-2665B853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53DF1-07CB-7FBA-4319-B2F3C299B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A3DA4-F2B3-8859-46F2-2032E43D2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64722-735E-8AF5-5DD1-F3D9E8F5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F2856-7E82-B4DC-1AF2-A0839D0D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492DF-24B8-6A39-237C-934E60DC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606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32E33-D556-E3DA-0ED6-1F18D5F5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413C7-F234-3FE7-8B75-FA2B7C2BE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F5C2A-F545-3903-06F1-CEFC6FD58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FC4DE-E2DE-6DB9-BD6C-57493A2B6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D6FA0-976A-5EA2-C155-2AC127F37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6F1B2-0119-1575-1787-018E4649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42002-E87D-2526-A902-3E197C0B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6BA0B-6198-5E2A-B3BC-E030ACF1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40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C784-4A7E-EC90-DBB6-A234539EA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AFCF83-E82C-3103-5747-D68E1BD0E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2D5A9-D056-DD02-1425-4F9C4988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DB268-EB64-29BC-3C4B-8F304EDF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49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3D6B0C-1F3D-0727-5A7A-06A4EF93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D8F64-9CCA-02DC-B9AE-42CCD209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B6ADB-D68A-5765-117D-FB24F421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871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0381-8BDE-83B7-5FD1-931CB301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1E10B-2583-4EF5-9EB4-E2181C32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4835F-6C29-A92F-4241-8ADF8A2D5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38E16-2CC6-3CA4-2214-07B4F8F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C0032-6310-8F8A-B627-B8AD8434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ED987-11BA-7C83-666A-81686FBE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433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CEDE3-321B-EBC9-BFAA-958F6A50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945B5E-B4EC-4963-9E07-1773E3BD9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B3578-F4AB-F1E3-236A-9AC7A35EC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41336-876D-D8B4-F6E4-73EF0CE8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59C43-C965-019D-B215-7939C489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8666A-B354-79A9-31D0-2224F538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3749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F740-0F5B-41E4-7BAC-BDB11D88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CF30DD-F82C-7F1C-DA09-1F1F3412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02F34-5B45-CAD3-A7D0-0A2288F5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3FA92-4B60-A6ED-1272-2D9B6940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B49CA-B823-0DBF-2860-ED12C034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108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A80D8-5932-271F-AF51-E4FD8E115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BFB85-2FD5-6C06-03A4-79874A795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AFE5E-1254-EAD1-ED5B-E2C53737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7982-119F-1310-4DCF-4CE20D6A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D9C15-5CF0-FBF1-40C8-3F774E2B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818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8C83F-F1B0-1E95-EBAA-2D6CBAEE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D2D9E-43C0-EA6D-68F1-1E832A8A5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D8E9-2E16-1EDF-9469-751E0F6C0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08288-4757-4980-98ED-33C5407F877B}" type="datetimeFigureOut">
              <a:rPr lang="en-NL" smtClean="0"/>
              <a:t>09/03/2025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A54A-8B66-4BC4-8917-5301F7571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4A2ED-E4EE-4D83-C013-96461FD08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26F8F-64E7-4510-BF39-2B03B487D13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87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CD7150-7D69-79A9-4F10-25C65DD36BA9}"/>
              </a:ext>
            </a:extLst>
          </p:cNvPr>
          <p:cNvSpPr/>
          <p:nvPr/>
        </p:nvSpPr>
        <p:spPr>
          <a:xfrm>
            <a:off x="4092704" y="539332"/>
            <a:ext cx="3580103" cy="1105199"/>
          </a:xfrm>
          <a:prstGeom prst="rect">
            <a:avLst/>
          </a:prstGeom>
          <a:solidFill>
            <a:schemeClr val="bg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Client Support Desk (GE for VW) and CSD for Finland (SEB)</a:t>
            </a:r>
            <a:endParaRPr lang="en-US" sz="1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8:00-18:00</a:t>
            </a:r>
            <a:endParaRPr lang="en-US" sz="1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200" b="1" dirty="0">
                <a:solidFill>
                  <a:schemeClr val="accent6"/>
                </a:solidFill>
                <a:ea typeface="Calibri"/>
                <a:cs typeface="Calibri"/>
              </a:rPr>
              <a:t>Heiko M</a:t>
            </a:r>
            <a:r>
              <a:rPr lang="en-US" sz="1200" b="1" dirty="0">
                <a:solidFill>
                  <a:schemeClr val="accent6"/>
                </a:solidFill>
              </a:rPr>
              <a:t>ü</a:t>
            </a:r>
            <a:r>
              <a:rPr lang="en-US" sz="1200" b="1" dirty="0">
                <a:solidFill>
                  <a:schemeClr val="accent6"/>
                </a:solidFill>
                <a:ea typeface="Calibri"/>
                <a:cs typeface="Calibri"/>
              </a:rPr>
              <a:t>ller (GE)+ ??? Finland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  <a:ea typeface="Calibri"/>
                <a:cs typeface="Calibri"/>
              </a:rPr>
              <a:t> </a:t>
            </a:r>
            <a:r>
              <a:rPr lang="en-US" sz="1200" b="1" i="1" dirty="0">
                <a:solidFill>
                  <a:schemeClr val="tx1"/>
                </a:solidFill>
                <a:highlight>
                  <a:srgbClr val="00FF00"/>
                </a:highlight>
                <a:ea typeface="Calibri"/>
                <a:cs typeface="Calibri"/>
              </a:rPr>
              <a:t>For 18:00 – 8:00 and (Sa, Su) + Major incidents (reported by client during OOO)???</a:t>
            </a:r>
            <a:endParaRPr lang="en-US" sz="1200" b="1" dirty="0"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.  </a:t>
            </a:r>
            <a:endParaRPr lang="en-NL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FED3D7-E702-312E-1E55-968DF711D99F}"/>
              </a:ext>
            </a:extLst>
          </p:cNvPr>
          <p:cNvSpPr/>
          <p:nvPr/>
        </p:nvSpPr>
        <p:spPr>
          <a:xfrm>
            <a:off x="292755" y="189161"/>
            <a:ext cx="11539581" cy="23932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CLIENTS (contracted Data Vault on Cloud (GI))</a:t>
            </a:r>
            <a:endParaRPr lang="en-US" sz="14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EED0AE-A810-0311-6EB9-FBB637DDEEFC}"/>
              </a:ext>
            </a:extLst>
          </p:cNvPr>
          <p:cNvSpPr/>
          <p:nvPr/>
        </p:nvSpPr>
        <p:spPr>
          <a:xfrm>
            <a:off x="312810" y="526824"/>
            <a:ext cx="3496555" cy="108179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Client Delivery Management Germany– CRO/CDM </a:t>
            </a:r>
            <a:endParaRPr lang="en-US" sz="1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Service meetings, service reporting, client communication during P1 (MIM)/releases, SLA reporting, </a:t>
            </a:r>
            <a:r>
              <a:rPr lang="en-US" sz="1200" dirty="0" err="1">
                <a:solidFill>
                  <a:schemeClr val="tx1"/>
                </a:solidFill>
              </a:rPr>
              <a:t>RfC’s</a:t>
            </a:r>
            <a:r>
              <a:rPr lang="en-US" sz="1200" dirty="0">
                <a:solidFill>
                  <a:schemeClr val="tx1"/>
                </a:solidFill>
              </a:rPr>
              <a:t>.  </a:t>
            </a:r>
            <a:endParaRPr lang="en-NL" sz="12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631799-E199-796B-734F-EA225ECE6EBE}"/>
              </a:ext>
            </a:extLst>
          </p:cNvPr>
          <p:cNvSpPr/>
          <p:nvPr/>
        </p:nvSpPr>
        <p:spPr>
          <a:xfrm>
            <a:off x="790878" y="2567368"/>
            <a:ext cx="2593276" cy="6276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Application Management </a:t>
            </a:r>
            <a:r>
              <a:rPr lang="en-US" sz="1100" b="1" u="sng" dirty="0">
                <a:solidFill>
                  <a:schemeClr val="tx1"/>
                </a:solidFill>
                <a:ea typeface="Calibri"/>
                <a:cs typeface="Calibri"/>
              </a:rPr>
              <a:t>(</a:t>
            </a:r>
            <a:r>
              <a:rPr lang="en-US" sz="1100" b="1" dirty="0">
                <a:solidFill>
                  <a:schemeClr val="tx1"/>
                </a:solidFill>
                <a:ea typeface="Calibri"/>
                <a:cs typeface="Calibri"/>
              </a:rPr>
              <a:t>GE)</a:t>
            </a:r>
            <a:r>
              <a:rPr lang="en-US" sz="1100" b="1" dirty="0">
                <a:solidFill>
                  <a:srgbClr val="FF0000"/>
                </a:solidFill>
              </a:rPr>
              <a:t> </a:t>
            </a:r>
            <a:endParaRPr lang="en-US" sz="1100" b="1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</a:rPr>
              <a:t>Michael Seebauer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  <a:ea typeface="Calibri"/>
                <a:cs typeface="Calibri"/>
              </a:rPr>
              <a:t>System Tribe</a:t>
            </a:r>
          </a:p>
          <a:p>
            <a:pPr algn="ctr"/>
            <a:endParaRPr lang="it-IT" sz="1200" b="1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sz="1200" b="1" u="sng" dirty="0">
              <a:solidFill>
                <a:schemeClr val="accent6"/>
              </a:solidFill>
            </a:endParaRPr>
          </a:p>
          <a:p>
            <a:pPr algn="ctr"/>
            <a:endParaRPr lang="en-US" sz="1200" b="1" u="sng" dirty="0">
              <a:solidFill>
                <a:schemeClr val="accent6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8F4D29-DB00-4DD3-999F-2A5BC69FFE44}"/>
              </a:ext>
            </a:extLst>
          </p:cNvPr>
          <p:cNvSpPr/>
          <p:nvPr/>
        </p:nvSpPr>
        <p:spPr>
          <a:xfrm>
            <a:off x="5090013" y="2566211"/>
            <a:ext cx="2593274" cy="6303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Site Reliability Engineer (SRE) </a:t>
            </a:r>
            <a:endParaRPr lang="en-US" sz="1100" b="1" i="1" u="sng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</a:rPr>
              <a:t>Thorsten Gücker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  <a:ea typeface="Calibri"/>
                <a:cs typeface="Calibri"/>
              </a:rPr>
              <a:t>System Tribe</a:t>
            </a:r>
          </a:p>
          <a:p>
            <a:pPr algn="ctr"/>
            <a:endParaRPr lang="en-US" sz="1100" b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sz="1100" b="1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sz="1100" b="1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sz="1100" b="1" u="sng" dirty="0">
              <a:solidFill>
                <a:schemeClr val="accent6"/>
              </a:solidFill>
            </a:endParaRPr>
          </a:p>
          <a:p>
            <a:pPr algn="ctr"/>
            <a:endParaRPr lang="en-US" sz="1100" b="1" u="sng" dirty="0">
              <a:solidFill>
                <a:schemeClr val="accent6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B12C08-E09A-F9D1-5DDA-5AB0B2C5191D}"/>
              </a:ext>
            </a:extLst>
          </p:cNvPr>
          <p:cNvSpPr/>
          <p:nvPr/>
        </p:nvSpPr>
        <p:spPr>
          <a:xfrm>
            <a:off x="9306419" y="3999317"/>
            <a:ext cx="971499" cy="7389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 CLS (N/W) </a:t>
            </a:r>
            <a:endParaRPr lang="en-NL" sz="1100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rgbClr val="92D050"/>
                </a:solidFill>
              </a:rPr>
              <a:t>Bertrand Lemaitre</a:t>
            </a:r>
            <a:endParaRPr lang="en-NL" sz="1100" dirty="0">
              <a:solidFill>
                <a:srgbClr val="92D050"/>
              </a:solidFill>
              <a:ea typeface="Calibri" panose="020F0502020204030204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AAC973-6A58-3972-9CCD-10FD96E7261A}"/>
              </a:ext>
            </a:extLst>
          </p:cNvPr>
          <p:cNvSpPr/>
          <p:nvPr/>
        </p:nvSpPr>
        <p:spPr>
          <a:xfrm>
            <a:off x="252641" y="3950984"/>
            <a:ext cx="1015175" cy="131210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Data Vault Core services </a:t>
            </a:r>
          </a:p>
          <a:p>
            <a:pPr algn="ctr"/>
            <a:endParaRPr lang="en-US" sz="1100" b="1" dirty="0">
              <a:solidFill>
                <a:schemeClr val="tx1"/>
              </a:solidFill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Calibri"/>
                <a:cs typeface="Calibri"/>
              </a:rPr>
              <a:t>Andreas Arndt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  <a:ea typeface="Calibri"/>
                <a:cs typeface="Calibri"/>
              </a:rPr>
              <a:t>IPBOP Tribe</a:t>
            </a:r>
            <a:endParaRPr lang="en-US" sz="1100" b="1" i="1" u="sng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DF6067F-7B3F-F339-E033-B39E302B8678}"/>
              </a:ext>
            </a:extLst>
          </p:cNvPr>
          <p:cNvSpPr/>
          <p:nvPr/>
        </p:nvSpPr>
        <p:spPr>
          <a:xfrm>
            <a:off x="9260035" y="5260456"/>
            <a:ext cx="2402438" cy="9709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Cloud Platform Provider (Internal)</a:t>
            </a:r>
          </a:p>
          <a:p>
            <a:pPr algn="ctr"/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GI (which teams in GI?)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49F0FF-44AC-CF2F-51C6-876B7FE29894}"/>
              </a:ext>
            </a:extLst>
          </p:cNvPr>
          <p:cNvSpPr/>
          <p:nvPr/>
        </p:nvSpPr>
        <p:spPr>
          <a:xfrm>
            <a:off x="4272494" y="1828201"/>
            <a:ext cx="3580102" cy="564548"/>
          </a:xfrm>
          <a:prstGeom prst="roundRect">
            <a:avLst/>
          </a:prstGeom>
          <a:solidFill>
            <a:schemeClr val="bg2"/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FLS (monitoring)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200" b="1" i="1" dirty="0">
                <a:solidFill>
                  <a:schemeClr val="accent6"/>
                </a:solidFill>
                <a:ea typeface="+mn-lt"/>
                <a:cs typeface="+mn-lt"/>
              </a:rPr>
              <a:t>Geoffrey Rodriguez</a:t>
            </a:r>
            <a:endParaRPr lang="en-US" b="1" i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 </a:t>
            </a:r>
            <a:endParaRPr lang="en-NL" sz="1200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1F62CBE-65E8-F762-451E-ED11A159E856}"/>
              </a:ext>
            </a:extLst>
          </p:cNvPr>
          <p:cNvSpPr/>
          <p:nvPr/>
        </p:nvSpPr>
        <p:spPr>
          <a:xfrm>
            <a:off x="1379909" y="3950984"/>
            <a:ext cx="1043301" cy="13094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ea typeface="+mn-lt"/>
                <a:cs typeface="+mn-lt"/>
              </a:rPr>
              <a:t>Data Vault GUI </a:t>
            </a:r>
            <a:endParaRPr lang="en-US" sz="11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+ Front End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Microservices</a:t>
            </a:r>
            <a:endParaRPr lang="en-US" sz="1100" b="1" i="1" u="sng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Calibri"/>
                <a:cs typeface="Calibri"/>
              </a:rPr>
              <a:t>Andreas Arndt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  <a:ea typeface="Calibri"/>
                <a:cs typeface="Calibri"/>
              </a:rPr>
              <a:t>IPBOP Tribe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63B9B9-9818-678D-8B0C-6A693BC05975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 flipV="1">
            <a:off x="3384154" y="2881206"/>
            <a:ext cx="1705859" cy="159"/>
          </a:xfrm>
          <a:prstGeom prst="straightConnector1">
            <a:avLst/>
          </a:prstGeom>
          <a:ln w="25400">
            <a:solidFill>
              <a:srgbClr val="0070C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3E7845-19A9-E322-AAAF-95617DAB73F6}"/>
              </a:ext>
            </a:extLst>
          </p:cNvPr>
          <p:cNvSpPr/>
          <p:nvPr/>
        </p:nvSpPr>
        <p:spPr>
          <a:xfrm>
            <a:off x="5216060" y="3950970"/>
            <a:ext cx="1005884" cy="965213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  <a:cs typeface="Calibri"/>
              </a:rPr>
              <a:t>Swift Service Bureau (SSB)</a:t>
            </a:r>
            <a:endParaRPr lang="en-US" sz="1100" b="1" i="1" u="sng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Calibri"/>
                <a:cs typeface="Calibri"/>
              </a:rPr>
              <a:t>Dirk </a:t>
            </a:r>
            <a:r>
              <a:rPr lang="en-US" sz="1100" b="1" dirty="0" err="1">
                <a:solidFill>
                  <a:schemeClr val="accent6"/>
                </a:solidFill>
                <a:ea typeface="Calibri"/>
                <a:cs typeface="Calibri"/>
              </a:rPr>
              <a:t>Uyttebroeck</a:t>
            </a:r>
            <a:endParaRPr lang="en-US" sz="1100" b="1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1200" b="1" i="1" u="sng" dirty="0">
                <a:solidFill>
                  <a:schemeClr val="accent6"/>
                </a:solidFill>
                <a:ea typeface="Calibri"/>
                <a:cs typeface="Calibri"/>
              </a:rPr>
              <a:t>C&amp;M Tribe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0436C6-C6E2-7DB1-E048-08D0B963C9D5}"/>
              </a:ext>
            </a:extLst>
          </p:cNvPr>
          <p:cNvSpPr/>
          <p:nvPr/>
        </p:nvSpPr>
        <p:spPr>
          <a:xfrm>
            <a:off x="6402906" y="3924670"/>
            <a:ext cx="964803" cy="100005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100" b="1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 sz="11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tx1"/>
                </a:solidFill>
                <a:ea typeface="Calibri"/>
                <a:cs typeface="Calibri"/>
              </a:rPr>
              <a:t>P2.0/ZVS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  <a:ea typeface="Calibri"/>
                <a:cs typeface="Calibri"/>
              </a:rPr>
              <a:t>Files</a:t>
            </a:r>
          </a:p>
          <a:p>
            <a:pPr algn="ctr"/>
            <a:endParaRPr lang="en-US" sz="1100" b="1" u="sng" dirty="0">
              <a:solidFill>
                <a:schemeClr val="accent6">
                  <a:lumMod val="7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 sz="1200" b="1" i="1" u="sng" dirty="0">
              <a:solidFill>
                <a:schemeClr val="accent1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B657A9-F3B7-F9F4-9D42-38DE0945BA82}"/>
              </a:ext>
            </a:extLst>
          </p:cNvPr>
          <p:cNvSpPr/>
          <p:nvPr/>
        </p:nvSpPr>
        <p:spPr>
          <a:xfrm>
            <a:off x="7528337" y="3928511"/>
            <a:ext cx="964803" cy="987672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Fraud detection</a:t>
            </a:r>
            <a:endParaRPr lang="en-US" sz="11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(FRAMS)</a:t>
            </a:r>
          </a:p>
          <a:p>
            <a:pPr algn="ctr"/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WL Issuing and Hawk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920A82-8A17-08E9-FB9C-05C1A3C320AC}"/>
              </a:ext>
            </a:extLst>
          </p:cNvPr>
          <p:cNvCxnSpPr>
            <a:cxnSpLocks/>
            <a:endCxn id="148" idx="0"/>
          </p:cNvCxnSpPr>
          <p:nvPr/>
        </p:nvCxnSpPr>
        <p:spPr>
          <a:xfrm>
            <a:off x="3384933" y="3621232"/>
            <a:ext cx="3590" cy="3401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54664A-8105-8D2D-EAF8-D786375AEA1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901560" y="3590481"/>
            <a:ext cx="0" cy="360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1680678F-5BD9-1514-1009-EA656DD0AF3D}"/>
              </a:ext>
            </a:extLst>
          </p:cNvPr>
          <p:cNvCxnSpPr>
            <a:cxnSpLocks/>
          </p:cNvCxnSpPr>
          <p:nvPr/>
        </p:nvCxnSpPr>
        <p:spPr>
          <a:xfrm flipH="1">
            <a:off x="3020700" y="1689738"/>
            <a:ext cx="1482474" cy="875515"/>
          </a:xfrm>
          <a:prstGeom prst="straightConnector1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3FDF7C98-12E3-C84B-F8D0-ACBA73730CCF}"/>
              </a:ext>
            </a:extLst>
          </p:cNvPr>
          <p:cNvSpPr/>
          <p:nvPr/>
        </p:nvSpPr>
        <p:spPr>
          <a:xfrm>
            <a:off x="8961386" y="2565253"/>
            <a:ext cx="2593274" cy="6182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User access Management</a:t>
            </a:r>
          </a:p>
          <a:p>
            <a:pPr algn="ctr"/>
            <a:r>
              <a:rPr lang="en-US" sz="1100" b="1" dirty="0">
                <a:solidFill>
                  <a:schemeClr val="tx1"/>
                </a:solidFill>
              </a:rPr>
              <a:t>WL SS-CIAM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A1DE49B-32E8-D3AA-9BC1-56342A4D9223}"/>
              </a:ext>
            </a:extLst>
          </p:cNvPr>
          <p:cNvCxnSpPr>
            <a:cxnSpLocks/>
          </p:cNvCxnSpPr>
          <p:nvPr/>
        </p:nvCxnSpPr>
        <p:spPr>
          <a:xfrm>
            <a:off x="760230" y="3605663"/>
            <a:ext cx="723162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BF559B1-3739-D5C2-C7AF-BB83B0278F1C}"/>
              </a:ext>
            </a:extLst>
          </p:cNvPr>
          <p:cNvCxnSpPr>
            <a:cxnSpLocks/>
          </p:cNvCxnSpPr>
          <p:nvPr/>
        </p:nvCxnSpPr>
        <p:spPr>
          <a:xfrm flipH="1">
            <a:off x="760229" y="3603030"/>
            <a:ext cx="9291" cy="3498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93BCF93-EB3B-89D4-473A-0BD0DFE85ACA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6885308" y="3576716"/>
            <a:ext cx="0" cy="3479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363EFC8-6ADC-AD82-EEDC-69C11C9EAEEA}"/>
              </a:ext>
            </a:extLst>
          </p:cNvPr>
          <p:cNvCxnSpPr>
            <a:cxnSpLocks/>
          </p:cNvCxnSpPr>
          <p:nvPr/>
        </p:nvCxnSpPr>
        <p:spPr>
          <a:xfrm flipV="1">
            <a:off x="2011326" y="3148024"/>
            <a:ext cx="0" cy="429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C24183-4B95-12FB-017F-4E4156889311}"/>
              </a:ext>
            </a:extLst>
          </p:cNvPr>
          <p:cNvSpPr/>
          <p:nvPr/>
        </p:nvSpPr>
        <p:spPr>
          <a:xfrm>
            <a:off x="2885581" y="3961391"/>
            <a:ext cx="1005884" cy="9547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MCP/HVP</a:t>
            </a: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Calibri"/>
                <a:cs typeface="Calibri"/>
              </a:rPr>
              <a:t>Daniel Emmanuilidis</a:t>
            </a:r>
          </a:p>
          <a:p>
            <a:pPr algn="ctr"/>
            <a:r>
              <a:rPr lang="en-US" sz="1100" b="1" dirty="0">
                <a:solidFill>
                  <a:srgbClr val="0070C0"/>
                </a:solidFill>
                <a:ea typeface="Calibri"/>
                <a:cs typeface="Calibri"/>
              </a:rPr>
              <a:t>SEPA Tribe</a:t>
            </a:r>
            <a:endParaRPr lang="en-US" sz="1100" b="1" dirty="0">
              <a:solidFill>
                <a:srgbClr val="0070C0"/>
              </a:solidFill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79C69179-03A7-581F-0A5F-2C6FCC196183}"/>
              </a:ext>
            </a:extLst>
          </p:cNvPr>
          <p:cNvCxnSpPr>
            <a:cxnSpLocks/>
          </p:cNvCxnSpPr>
          <p:nvPr/>
        </p:nvCxnSpPr>
        <p:spPr>
          <a:xfrm>
            <a:off x="4572341" y="3621291"/>
            <a:ext cx="0" cy="3657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58CDB7E-6A15-663C-E75B-E749F530835A}"/>
              </a:ext>
            </a:extLst>
          </p:cNvPr>
          <p:cNvSpPr/>
          <p:nvPr/>
        </p:nvSpPr>
        <p:spPr>
          <a:xfrm>
            <a:off x="10697670" y="3981316"/>
            <a:ext cx="964803" cy="746520"/>
          </a:xfrm>
          <a:prstGeom prst="rect">
            <a:avLst/>
          </a:prstGeom>
          <a:solidFill>
            <a:srgbClr val="FFFF00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ea typeface="Calibri"/>
                <a:cs typeface="Calibri"/>
              </a:rPr>
              <a:t>Cyber Defense (CDC)</a:t>
            </a: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+mn-lt"/>
                <a:cs typeface="+mn-lt"/>
              </a:rPr>
              <a:t>Bruno </a:t>
            </a:r>
            <a:r>
              <a:rPr lang="en-US" sz="1100" b="1" dirty="0" err="1">
                <a:solidFill>
                  <a:schemeClr val="accent6"/>
                </a:solidFill>
                <a:ea typeface="+mn-lt"/>
                <a:cs typeface="+mn-lt"/>
              </a:rPr>
              <a:t>Ispa</a:t>
            </a:r>
            <a:endParaRPr lang="en-US" sz="1100" b="1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5E417F-24FC-890D-F433-9B49C262825F}"/>
              </a:ext>
            </a:extLst>
          </p:cNvPr>
          <p:cNvCxnSpPr>
            <a:cxnSpLocks/>
          </p:cNvCxnSpPr>
          <p:nvPr/>
        </p:nvCxnSpPr>
        <p:spPr>
          <a:xfrm>
            <a:off x="11179962" y="3644635"/>
            <a:ext cx="0" cy="3190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224406-292A-DAAF-73CF-906E83F7E074}"/>
              </a:ext>
            </a:extLst>
          </p:cNvPr>
          <p:cNvCxnSpPr>
            <a:cxnSpLocks/>
          </p:cNvCxnSpPr>
          <p:nvPr/>
        </p:nvCxnSpPr>
        <p:spPr>
          <a:xfrm>
            <a:off x="9792168" y="4764378"/>
            <a:ext cx="0" cy="4960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BDE07E-4671-2A28-4871-5D9B6B1BC031}"/>
              </a:ext>
            </a:extLst>
          </p:cNvPr>
          <p:cNvCxnSpPr>
            <a:cxnSpLocks/>
          </p:cNvCxnSpPr>
          <p:nvPr/>
        </p:nvCxnSpPr>
        <p:spPr>
          <a:xfrm flipH="1">
            <a:off x="9792168" y="3644635"/>
            <a:ext cx="109" cy="3499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141357A-191E-6EE2-EDDB-5AEE12965A0B}"/>
              </a:ext>
            </a:extLst>
          </p:cNvPr>
          <p:cNvSpPr/>
          <p:nvPr/>
        </p:nvSpPr>
        <p:spPr>
          <a:xfrm rot="20288511">
            <a:off x="3971478" y="5449715"/>
            <a:ext cx="2683978" cy="9144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DRAFT</a:t>
            </a:r>
          </a:p>
        </p:txBody>
      </p:sp>
      <p:sp>
        <p:nvSpPr>
          <p:cNvPr id="67" name="Rectangle: Rounded Corners 5">
            <a:extLst>
              <a:ext uri="{FF2B5EF4-FFF2-40B4-BE49-F238E27FC236}">
                <a16:creationId xmlns:a16="http://schemas.microsoft.com/office/drawing/2014/main" id="{F52A218F-9754-FB13-7556-07BF70536870}"/>
              </a:ext>
            </a:extLst>
          </p:cNvPr>
          <p:cNvSpPr/>
          <p:nvPr/>
        </p:nvSpPr>
        <p:spPr>
          <a:xfrm>
            <a:off x="4078307" y="3950971"/>
            <a:ext cx="1005884" cy="9652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b="1" dirty="0" err="1">
                <a:solidFill>
                  <a:schemeClr val="tx1"/>
                </a:solidFill>
                <a:ea typeface="Calibri"/>
                <a:cs typeface="Calibri"/>
              </a:rPr>
              <a:t>Bankrechner</a:t>
            </a:r>
            <a:endParaRPr lang="en-US" sz="1100" b="1" i="1" u="sng" dirty="0">
              <a:solidFill>
                <a:schemeClr val="accent6"/>
              </a:solidFill>
              <a:ea typeface="Calibri"/>
              <a:cs typeface="Calibri"/>
            </a:endParaRPr>
          </a:p>
          <a:p>
            <a:pPr algn="ctr"/>
            <a:r>
              <a:rPr lang="en-US" sz="1100" b="1" dirty="0">
                <a:solidFill>
                  <a:schemeClr val="accent6"/>
                </a:solidFill>
                <a:ea typeface="Calibri"/>
                <a:cs typeface="Calibri"/>
              </a:rPr>
              <a:t>Jos Keulers (Kai Burkhardt)</a:t>
            </a:r>
          </a:p>
          <a:p>
            <a:pPr algn="ctr"/>
            <a:endParaRPr lang="en-US" sz="1200" b="1" i="1" u="sng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153F623-A95C-1D31-E56E-F58426D7C406}"/>
              </a:ext>
            </a:extLst>
          </p:cNvPr>
          <p:cNvCxnSpPr>
            <a:cxnSpLocks/>
          </p:cNvCxnSpPr>
          <p:nvPr/>
        </p:nvCxnSpPr>
        <p:spPr>
          <a:xfrm>
            <a:off x="5667527" y="3636233"/>
            <a:ext cx="0" cy="3657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90D8D51-468A-7EE2-AFFA-3A010E2E5FD0}"/>
              </a:ext>
            </a:extLst>
          </p:cNvPr>
          <p:cNvCxnSpPr>
            <a:cxnSpLocks/>
          </p:cNvCxnSpPr>
          <p:nvPr/>
        </p:nvCxnSpPr>
        <p:spPr>
          <a:xfrm>
            <a:off x="2011326" y="3256913"/>
            <a:ext cx="0" cy="3643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75CB642-7B3E-AB1D-49C3-2DCE26C328F3}"/>
              </a:ext>
            </a:extLst>
          </p:cNvPr>
          <p:cNvCxnSpPr>
            <a:cxnSpLocks/>
          </p:cNvCxnSpPr>
          <p:nvPr/>
        </p:nvCxnSpPr>
        <p:spPr>
          <a:xfrm>
            <a:off x="7972078" y="3613090"/>
            <a:ext cx="3590" cy="3401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F19CF582-9CFA-F79E-C59A-91DBE73A285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683287" y="2881365"/>
            <a:ext cx="3535589" cy="793106"/>
          </a:xfrm>
          <a:prstGeom prst="bentConnector3">
            <a:avLst>
              <a:gd name="adj1" fmla="val 31924"/>
            </a:avLst>
          </a:prstGeom>
          <a:ln w="25400"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E9A5447-E4EF-DC7E-E58F-E55724EB6FE4}"/>
              </a:ext>
            </a:extLst>
          </p:cNvPr>
          <p:cNvSpPr/>
          <p:nvPr/>
        </p:nvSpPr>
        <p:spPr>
          <a:xfrm>
            <a:off x="2753032" y="3293732"/>
            <a:ext cx="5872568" cy="187453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1EC6D9-76CB-CB35-FC7A-D1565B0C609B}"/>
              </a:ext>
            </a:extLst>
          </p:cNvPr>
          <p:cNvSpPr txBox="1"/>
          <p:nvPr/>
        </p:nvSpPr>
        <p:spPr>
          <a:xfrm>
            <a:off x="3523707" y="3239535"/>
            <a:ext cx="4512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Interface with other core and satellite systems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FBC6060-73A4-C791-64FC-20B1721A0A57}"/>
              </a:ext>
            </a:extLst>
          </p:cNvPr>
          <p:cNvSpPr/>
          <p:nvPr/>
        </p:nvSpPr>
        <p:spPr>
          <a:xfrm>
            <a:off x="174593" y="3293732"/>
            <a:ext cx="2395037" cy="224721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616287-524B-01E7-16FB-30167345E9AE}"/>
              </a:ext>
            </a:extLst>
          </p:cNvPr>
          <p:cNvSpPr txBox="1"/>
          <p:nvPr/>
        </p:nvSpPr>
        <p:spPr>
          <a:xfrm>
            <a:off x="383245" y="3242337"/>
            <a:ext cx="167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processing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73E91-BB19-1CA9-A317-7472E96A2C96}"/>
              </a:ext>
            </a:extLst>
          </p:cNvPr>
          <p:cNvSpPr/>
          <p:nvPr/>
        </p:nvSpPr>
        <p:spPr>
          <a:xfrm>
            <a:off x="174593" y="6033377"/>
            <a:ext cx="905108" cy="2218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lvl="0">
              <a:defRPr lang="en-GB"/>
            </a:defPPr>
            <a:lvl1pPr marL="0" lvl="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lvl="2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lvl="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lvl="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cs typeface="Calibri"/>
              </a:rPr>
              <a:t>L1 support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EFEF5-9514-8A0D-6D96-818E2D9BC570}"/>
              </a:ext>
            </a:extLst>
          </p:cNvPr>
          <p:cNvSpPr/>
          <p:nvPr/>
        </p:nvSpPr>
        <p:spPr>
          <a:xfrm>
            <a:off x="174593" y="6302866"/>
            <a:ext cx="905108" cy="2126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lvl="0">
              <a:defRPr lang="en-GB"/>
            </a:defPPr>
            <a:lvl1pPr marL="0" lvl="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lvl="2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lvl="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lvl="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cs typeface="Calibri"/>
              </a:rPr>
              <a:t>L2 support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31A2B-3CD2-867E-53B7-83B10BC6A5B0}"/>
              </a:ext>
            </a:extLst>
          </p:cNvPr>
          <p:cNvSpPr/>
          <p:nvPr/>
        </p:nvSpPr>
        <p:spPr>
          <a:xfrm>
            <a:off x="174593" y="6563062"/>
            <a:ext cx="905108" cy="2218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lvl="0">
              <a:defRPr lang="en-GB"/>
            </a:defPPr>
            <a:lvl1pPr marL="0" lvl="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lvl="2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lvl="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lvl="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cs typeface="Calibri"/>
              </a:rPr>
              <a:t>L3 support</a:t>
            </a:r>
          </a:p>
        </p:txBody>
      </p:sp>
      <p:cxnSp>
        <p:nvCxnSpPr>
          <p:cNvPr id="68" name="Connector: Elbow 86">
            <a:extLst>
              <a:ext uri="{FF2B5EF4-FFF2-40B4-BE49-F238E27FC236}">
                <a16:creationId xmlns:a16="http://schemas.microsoft.com/office/drawing/2014/main" id="{DB13CCEF-71BB-1F93-16DC-3C421EEC0880}"/>
              </a:ext>
            </a:extLst>
          </p:cNvPr>
          <p:cNvCxnSpPr>
            <a:cxnSpLocks/>
          </p:cNvCxnSpPr>
          <p:nvPr/>
        </p:nvCxnSpPr>
        <p:spPr>
          <a:xfrm flipH="1" flipV="1">
            <a:off x="7528337" y="1651957"/>
            <a:ext cx="1920463" cy="907693"/>
          </a:xfrm>
          <a:prstGeom prst="straightConnector1">
            <a:avLst/>
          </a:prstGeom>
          <a:ln w="25400">
            <a:solidFill>
              <a:srgbClr val="0070C0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D408977-0C11-0828-1D72-34454A744253}"/>
              </a:ext>
            </a:extLst>
          </p:cNvPr>
          <p:cNvSpPr/>
          <p:nvPr/>
        </p:nvSpPr>
        <p:spPr>
          <a:xfrm>
            <a:off x="1283900" y="6033378"/>
            <a:ext cx="1123906" cy="7515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lvl="0">
              <a:defRPr lang="en-GB"/>
            </a:defPPr>
            <a:lvl1pPr marL="0" lvl="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lvl="2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lvl="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lvl="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cs typeface="Calibri"/>
              </a:rPr>
              <a:t>L3 support (part </a:t>
            </a:r>
            <a:r>
              <a:rPr lang="en-US" sz="1200" b="1">
                <a:solidFill>
                  <a:schemeClr val="tx1"/>
                </a:solidFill>
                <a:cs typeface="Calibri"/>
              </a:rPr>
              <a:t>of TOM </a:t>
            </a:r>
            <a:r>
              <a:rPr lang="en-US" sz="1200" b="1" dirty="0">
                <a:solidFill>
                  <a:schemeClr val="tx1"/>
                </a:solidFill>
                <a:cs typeface="Calibri"/>
              </a:rPr>
              <a:t>or not?) To be discussed.</a:t>
            </a:r>
          </a:p>
        </p:txBody>
      </p:sp>
    </p:spTree>
    <p:extLst>
      <p:ext uri="{BB962C8B-B14F-4D97-AF65-F5344CB8AC3E}">
        <p14:creationId xmlns:p14="http://schemas.microsoft.com/office/powerpoint/2010/main" val="420935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f8b150-94fa-4ab2-8ca8-f377542d187b" xsi:nil="true"/>
    <lcf76f155ced4ddcb4097134ff3c332f xmlns="a96f6574-35a5-4aef-a50d-b45dc5d80093">
      <Terms xmlns="http://schemas.microsoft.com/office/infopath/2007/PartnerControls"/>
    </lcf76f155ced4ddcb4097134ff3c332f>
    <AdvancedVersioningLimit xmlns="8af8bf91-91d7-4425-8244-b5884c2615ee" xsi:nil="true"/>
    <LockedVersions xmlns="8af8bf91-91d7-4425-8244-b5884c2615e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C1E809211B6E4B8837C846A9460908" ma:contentTypeVersion="24" ma:contentTypeDescription="Create a new document." ma:contentTypeScope="" ma:versionID="28a970be94a69a21b7bed6aa11ddea72">
  <xsd:schema xmlns:xsd="http://www.w3.org/2001/XMLSchema" xmlns:xs="http://www.w3.org/2001/XMLSchema" xmlns:p="http://schemas.microsoft.com/office/2006/metadata/properties" xmlns:ns2="0280757d-37fe-447a-94a4-d00c1eb2ad0e" xmlns:ns3="8af8bf91-91d7-4425-8244-b5884c2615ee" xmlns:ns4="a96f6574-35a5-4aef-a50d-b45dc5d80093" xmlns:ns5="72f8b150-94fa-4ab2-8ca8-f377542d187b" targetNamespace="http://schemas.microsoft.com/office/2006/metadata/properties" ma:root="true" ma:fieldsID="c4b94a9efbc8ff393f2afaca2140a4ce" ns2:_="" ns3:_="" ns4:_="" ns5:_="">
    <xsd:import namespace="0280757d-37fe-447a-94a4-d00c1eb2ad0e"/>
    <xsd:import namespace="8af8bf91-91d7-4425-8244-b5884c2615ee"/>
    <xsd:import namespace="a96f6574-35a5-4aef-a50d-b45dc5d80093"/>
    <xsd:import namespace="72f8b150-94fa-4ab2-8ca8-f377542d187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AdvancedVersioningLimit" minOccurs="0"/>
                <xsd:element ref="ns3:LockedVersions" minOccurs="0"/>
                <xsd:element ref="ns4:MediaServiceMetadata" minOccurs="0"/>
                <xsd:element ref="ns4:MediaServiceFastMetadata" minOccurs="0"/>
                <xsd:element ref="ns5:SharedWithUsers" minOccurs="0"/>
                <xsd:element ref="ns5:SharedWithDetails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MediaServiceSearchProperties" minOccurs="0"/>
                <xsd:element ref="ns4:lcf76f155ced4ddcb4097134ff3c332f" minOccurs="0"/>
                <xsd:element ref="ns5:TaxCatchAll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0757d-37fe-447a-94a4-d00c1eb2ad0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8bf91-91d7-4425-8244-b5884c2615ee" elementFormDefault="qualified">
    <xsd:import namespace="http://schemas.microsoft.com/office/2006/documentManagement/types"/>
    <xsd:import namespace="http://schemas.microsoft.com/office/infopath/2007/PartnerControls"/>
    <xsd:element name="AdvancedVersioningLimit" ma:index="11" nillable="true" ma:displayName="AdvancedVersioningLimit" ma:hidden="true" ma:internalName="AdvancedVersioningLimit">
      <xsd:simpleType>
        <xsd:restriction base="dms:Text"/>
      </xsd:simpleType>
    </xsd:element>
    <xsd:element name="LockedVersions" ma:index="12" nillable="true" ma:displayName="LockedVersions" ma:hidden="true" ma:internalName="LockedVersion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6f6574-35a5-4aef-a50d-b45dc5d800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79381ec-ee8b-4a21-8c53-b800cfaa77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f8b150-94fa-4ab2-8ca8-f377542d187b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ab97e5d0-cab5-478a-88aa-40b2b41d747c}" ma:internalName="TaxCatchAll" ma:showField="CatchAllData" ma:web="72f8b150-94fa-4ab2-8ca8-f377542d18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473E07-AABA-424A-9C81-BE839955D3BB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280757d-37fe-447a-94a4-d00c1eb2ad0e"/>
    <ds:schemaRef ds:uri="a96f6574-35a5-4aef-a50d-b45dc5d80093"/>
    <ds:schemaRef ds:uri="http://schemas.microsoft.com/office/infopath/2007/PartnerControls"/>
    <ds:schemaRef ds:uri="http://schemas.openxmlformats.org/package/2006/metadata/core-properties"/>
    <ds:schemaRef ds:uri="72f8b150-94fa-4ab2-8ca8-f377542d187b"/>
    <ds:schemaRef ds:uri="8af8bf91-91d7-4425-8244-b5884c2615ee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1B6D155-72FE-43CD-AB6E-71F3BCE32DF0}">
  <ds:schemaRefs>
    <ds:schemaRef ds:uri="0280757d-37fe-447a-94a4-d00c1eb2ad0e"/>
    <ds:schemaRef ds:uri="72f8b150-94fa-4ab2-8ca8-f377542d187b"/>
    <ds:schemaRef ds:uri="8af8bf91-91d7-4425-8244-b5884c2615ee"/>
    <ds:schemaRef ds:uri="a96f6574-35a5-4aef-a50d-b45dc5d800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2EAFD79-4A06-4440-B23E-3E96275820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a217bfd-7fc6-4e23-babe-07368f99370d}" enabled="1" method="Standard" siteId="{fda9decf-e892-43ac-9d9f-1a493f9f98d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Lenz, Eric</dc:creator>
  <cp:lastModifiedBy>Rajic, Hendrik</cp:lastModifiedBy>
  <cp:revision>8</cp:revision>
  <dcterms:created xsi:type="dcterms:W3CDTF">2023-07-09T07:27:07Z</dcterms:created>
  <dcterms:modified xsi:type="dcterms:W3CDTF">2025-09-04T07:34:24Z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0x010100FBC1E809211B6E4B8837C846A9460908</vt:lpwstr>
  </property>
  <property fmtid="{D5CDD505-2E9C-101B-9397-08002B2CF9AE}" pid="3" name="MediaServiceImageTags">
    <vt:lpwstr/>
  </property>
</Properties>
</file>